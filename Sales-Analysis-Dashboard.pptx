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Playfair Display Semi Bold"/>
      <p:regular r:id="rId17"/>
    </p:embeddedFont>
    <p:embeddedFont>
      <p:font typeface="Playfair Display Semi Bold"/>
      <p:regular r:id="rId18"/>
    </p:embeddedFont>
    <p:embeddedFont>
      <p:font typeface="Playfair Display Semi Bold"/>
      <p:regular r:id="rId19"/>
    </p:embeddedFont>
    <p:embeddedFont>
      <p:font typeface="Playfair Display Semi Bold"/>
      <p:regular r:id="rId20"/>
    </p:embeddedFont>
    <p:embeddedFont>
      <p:font typeface="Public Sans"/>
      <p:regular r:id="rId21"/>
    </p:embeddedFont>
    <p:embeddedFont>
      <p:font typeface="Public Sans"/>
      <p:regular r:id="rId22"/>
    </p:embeddedFont>
    <p:embeddedFont>
      <p:font typeface="Public Sans"/>
      <p:regular r:id="rId23"/>
    </p:embeddedFont>
    <p:embeddedFont>
      <p:font typeface="Public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10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11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2100" y="0"/>
            <a:ext cx="37719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9135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Sales Analysis Dashboard &amp; Data Storytelling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789932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Task 4 – Data Analyst Internship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| Prepared by: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Arunraj V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176215"/>
            <a:ext cx="725835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E1C2C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5936" y="3223468"/>
            <a:ext cx="54619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1C2C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POWER BI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292796" y="3176215"/>
            <a:ext cx="542702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E1C2C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82613" y="3223468"/>
            <a:ext cx="36306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1C2C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EXCEL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1906339" y="3176215"/>
            <a:ext cx="646063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E1C2C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996157" y="3223468"/>
            <a:ext cx="46642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1C2C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PYTHON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623245" y="3176215"/>
            <a:ext cx="1059507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E1C2C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13062" y="3223468"/>
            <a:ext cx="879872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E1C2C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GOOGLE COLAB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429890"/>
            <a:ext cx="3488754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Project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88379" y="1140693"/>
            <a:ext cx="816724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Transforming raw Superstore sales data into actionable business insights through visualization, storytelling, and interactive dashboarding.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88379" y="1875458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Goals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88379" y="2230859"/>
            <a:ext cx="3913436" cy="1299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Understand business performance using sales data</a:t>
            </a:r>
            <a:endParaRPr lang="en-US" sz="10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Identify top-performing categories and regions</a:t>
            </a:r>
            <a:endParaRPr lang="en-US" sz="10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Analyze sales trends over time</a:t>
            </a:r>
            <a:endParaRPr lang="en-US" sz="10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Build an interactive Power BI dashboard</a:t>
            </a:r>
            <a:endParaRPr lang="en-US" sz="10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Present insights through data storytelling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46947" y="1875458"/>
            <a:ext cx="2016919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Dataset: Superstore Sales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746947" y="2247974"/>
            <a:ext cx="1888034" cy="1086892"/>
          </a:xfrm>
          <a:prstGeom prst="roundRect">
            <a:avLst>
              <a:gd name="adj" fmla="val 5393"/>
            </a:avLst>
          </a:prstGeom>
          <a:solidFill>
            <a:srgbClr val="E1C2C2">
              <a:alpha val="50000"/>
            </a:srgbClr>
          </a:solidFill>
          <a:ln w="4763">
            <a:solidFill>
              <a:srgbClr val="C7A8A8"/>
            </a:solidFill>
            <a:prstDash val="solid"/>
          </a:ln>
          <a:effectLst>
            <a:outerShdw sx="100000" sy="100000" kx="0" ky="0" algn="bl" rotWithShape="0" blurRad="0" dist="17780" dir="2700000">
              <a:srgbClr val="c7a8a8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1236" y="2392263"/>
            <a:ext cx="159945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Orders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891236" y="2747665"/>
            <a:ext cx="159945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Order dates, IDs &amp; revenue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772349" y="2247974"/>
            <a:ext cx="1888034" cy="1086892"/>
          </a:xfrm>
          <a:prstGeom prst="roundRect">
            <a:avLst>
              <a:gd name="adj" fmla="val 5393"/>
            </a:avLst>
          </a:prstGeom>
          <a:solidFill>
            <a:srgbClr val="CCC4EC">
              <a:alpha val="50000"/>
            </a:srgbClr>
          </a:solidFill>
          <a:ln w="4763">
            <a:solidFill>
              <a:srgbClr val="B2AAD2"/>
            </a:solidFill>
            <a:prstDash val="solid"/>
          </a:ln>
          <a:effectLst>
            <a:outerShdw sx="100000" sy="100000" kx="0" ky="0" algn="bl" rotWithShape="0" blurRad="0" dist="17780" dir="2700000">
              <a:srgbClr val="b2aad2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16638" y="2392263"/>
            <a:ext cx="159945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Customers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916638" y="2747665"/>
            <a:ext cx="159945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Segments &amp; demographics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46947" y="3472235"/>
            <a:ext cx="1888034" cy="1086892"/>
          </a:xfrm>
          <a:prstGeom prst="roundRect">
            <a:avLst>
              <a:gd name="adj" fmla="val 5393"/>
            </a:avLst>
          </a:prstGeom>
          <a:solidFill>
            <a:srgbClr val="B4DAE4">
              <a:alpha val="50000"/>
            </a:srgbClr>
          </a:solidFill>
          <a:ln w="4763">
            <a:solidFill>
              <a:srgbClr val="9AC0CA"/>
            </a:solidFill>
            <a:prstDash val="solid"/>
          </a:ln>
          <a:effectLst>
            <a:outerShdw sx="100000" sy="100000" kx="0" ky="0" algn="bl" rotWithShape="0" blurRad="0" dist="17780" dir="2700000">
              <a:srgbClr val="9ac0ca">
                <a:alpha val="1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1236" y="3616523"/>
            <a:ext cx="159945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Products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891236" y="3971925"/>
            <a:ext cx="159945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Categories &amp; sub-categories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72349" y="3472235"/>
            <a:ext cx="1888034" cy="1086892"/>
          </a:xfrm>
          <a:prstGeom prst="roundRect">
            <a:avLst>
              <a:gd name="adj" fmla="val 5393"/>
            </a:avLst>
          </a:prstGeom>
          <a:solidFill>
            <a:srgbClr val="E1C2C2">
              <a:alpha val="50000"/>
            </a:srgbClr>
          </a:solidFill>
          <a:ln w="4763">
            <a:solidFill>
              <a:srgbClr val="C7A8A8"/>
            </a:solidFill>
            <a:prstDash val="solid"/>
          </a:ln>
          <a:effectLst>
            <a:outerShdw sx="100000" sy="100000" kx="0" ky="0" algn="bl" rotWithShape="0" blurRad="0" dist="17780" dir="2700000">
              <a:srgbClr val="c7a8a8">
                <a:alpha val="1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16638" y="3616523"/>
            <a:ext cx="159945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Regions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916638" y="3971925"/>
            <a:ext cx="159945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Geographic sales data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459432"/>
            <a:ext cx="385472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Data Preparation Process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65162" y="1123876"/>
            <a:ext cx="821367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Before any analysis, the raw dataset was rigorously cleaned and structured to ensure accuracy and reliability in all downstream reporting.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65162" y="1675954"/>
            <a:ext cx="26580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F655D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65162" y="1887513"/>
            <a:ext cx="2654796" cy="14288"/>
          </a:xfrm>
          <a:prstGeom prst="rect">
            <a:avLst/>
          </a:prstGeom>
          <a:solidFill>
            <a:srgbClr val="E1C2C2"/>
          </a:solidFill>
          <a:ln/>
        </p:spPr>
      </p:sp>
      <p:sp>
        <p:nvSpPr>
          <p:cNvPr id="6" name="Text 4"/>
          <p:cNvSpPr/>
          <p:nvPr/>
        </p:nvSpPr>
        <p:spPr>
          <a:xfrm>
            <a:off x="465162" y="1982539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Check Missing Values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5162" y="2264941"/>
            <a:ext cx="2654796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Identified and handled null entries across all fields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44528" y="1675954"/>
            <a:ext cx="26580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F655D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4528" y="1887513"/>
            <a:ext cx="2654871" cy="14288"/>
          </a:xfrm>
          <a:prstGeom prst="rect">
            <a:avLst/>
          </a:prstGeom>
          <a:solidFill>
            <a:srgbClr val="CCC4EC"/>
          </a:solidFill>
          <a:ln/>
        </p:spPr>
      </p:sp>
      <p:sp>
        <p:nvSpPr>
          <p:cNvPr id="10" name="Text 8"/>
          <p:cNvSpPr/>
          <p:nvPr/>
        </p:nvSpPr>
        <p:spPr>
          <a:xfrm>
            <a:off x="3244528" y="1982539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Remove Duplicates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44528" y="2264941"/>
            <a:ext cx="2654871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Eliminated redundant records to maintain data integrity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23967" y="1675954"/>
            <a:ext cx="26580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F655D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23967" y="1887513"/>
            <a:ext cx="2654871" cy="14288"/>
          </a:xfrm>
          <a:prstGeom prst="rect">
            <a:avLst/>
          </a:prstGeom>
          <a:solidFill>
            <a:srgbClr val="B4DAE4"/>
          </a:solidFill>
          <a:ln/>
        </p:spPr>
      </p:sp>
      <p:sp>
        <p:nvSpPr>
          <p:cNvPr id="14" name="Text 12"/>
          <p:cNvSpPr/>
          <p:nvPr/>
        </p:nvSpPr>
        <p:spPr>
          <a:xfrm>
            <a:off x="6023967" y="1982539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Format Dates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23967" y="2264941"/>
            <a:ext cx="2654871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Converted date columns to proper datetime format using Pandas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5162" y="2901107"/>
            <a:ext cx="26580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F655D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5162" y="3112666"/>
            <a:ext cx="4044553" cy="14288"/>
          </a:xfrm>
          <a:prstGeom prst="rect">
            <a:avLst/>
          </a:prstGeom>
          <a:solidFill>
            <a:srgbClr val="E1C2C2"/>
          </a:solidFill>
          <a:ln/>
        </p:spPr>
      </p:sp>
      <p:sp>
        <p:nvSpPr>
          <p:cNvPr id="18" name="Text 16"/>
          <p:cNvSpPr/>
          <p:nvPr/>
        </p:nvSpPr>
        <p:spPr>
          <a:xfrm>
            <a:off x="465162" y="3207693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5162" y="3490094"/>
            <a:ext cx="404455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Created derived columns for time-based and categorical analysis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34285" y="2901107"/>
            <a:ext cx="26580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F655D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34285" y="3112666"/>
            <a:ext cx="4044553" cy="14288"/>
          </a:xfrm>
          <a:prstGeom prst="rect">
            <a:avLst/>
          </a:prstGeom>
          <a:solidFill>
            <a:srgbClr val="CCC4EC"/>
          </a:solidFill>
          <a:ln/>
        </p:spPr>
      </p:sp>
      <p:sp>
        <p:nvSpPr>
          <p:cNvPr id="22" name="Text 20"/>
          <p:cNvSpPr/>
          <p:nvPr/>
        </p:nvSpPr>
        <p:spPr>
          <a:xfrm>
            <a:off x="4634285" y="3207693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Standardize Data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34285" y="3490094"/>
            <a:ext cx="404455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Ensured consistent formatting across all text and numeric fields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5162" y="3935834"/>
            <a:ext cx="8213675" cy="748233"/>
          </a:xfrm>
          <a:prstGeom prst="roundRect">
            <a:avLst>
              <a:gd name="adj" fmla="val 7460"/>
            </a:avLst>
          </a:prstGeom>
          <a:solidFill>
            <a:srgbClr val="B6FCB8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066" y="4138017"/>
            <a:ext cx="166092" cy="132904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897062" y="4093592"/>
            <a:ext cx="7648873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Outcome: A clean, analysis-ready dataset was generated in Google Colab and exported for Power BI dashboard development.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414412"/>
            <a:ext cx="4241378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Key Performance Indicators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65162" y="1078855"/>
            <a:ext cx="821367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Three core KPIs frame the business performance picture — measuring scale, volume, and transaction quality.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65162" y="1491407"/>
            <a:ext cx="2634035" cy="438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450"/>
              </a:lnSpc>
              <a:buNone/>
            </a:pPr>
            <a:r>
              <a:rPr lang="en-US" sz="34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2.26M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951533" y="2089845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Total Sales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65162" y="2372246"/>
            <a:ext cx="263403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Total revenue generated across all orders and regions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54946" y="1491407"/>
            <a:ext cx="2634035" cy="438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450"/>
              </a:lnSpc>
              <a:buNone/>
            </a:pPr>
            <a:r>
              <a:rPr lang="en-US" sz="34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9800+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3741316" y="2089845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Total Orders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54946" y="2372246"/>
            <a:ext cx="263403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Customer orders analyzed in the Superstore dataset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44729" y="1491407"/>
            <a:ext cx="2634035" cy="438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450"/>
              </a:lnSpc>
              <a:buNone/>
            </a:pPr>
            <a:r>
              <a:rPr lang="en-US" sz="34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$230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6531099" y="2089845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Avg. Order Value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44729" y="2372246"/>
            <a:ext cx="263403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Average revenue generated per individual customer order</a:t>
            </a:r>
            <a:endParaRPr lang="en-US" sz="1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451" y="3162151"/>
            <a:ext cx="3704779" cy="132903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019502" y="3048893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Why KPIs Matter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019502" y="3381152"/>
            <a:ext cx="2664023" cy="1235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These metrics serve as the foundation for evaluating business health — tracking growth trajectories, understanding customer purchasing behavior, and benchmarking revenue performance over time.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643" y="336426"/>
            <a:ext cx="2934965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Sales by Category</a:t>
            </a:r>
            <a:endParaRPr lang="en-US" sz="2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863" y="1579959"/>
            <a:ext cx="1550640" cy="24961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77905" y="946249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Key Findings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977905" y="1226865"/>
            <a:ext cx="2649066" cy="1098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90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Technology</a:t>
            </a:r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generated the highest total sales — the clear revenue leader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90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Office Supplies</a:t>
            </a:r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contributed stable, consistent volume across periods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90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Furniture</a:t>
            </a:r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showed moderate performance with room for improvement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977905" y="2422103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Business Impact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977905" y="2702719"/>
            <a:ext cx="2649066" cy="1098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High demand for technology signals a strong growth opportunity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Targeted promotions in Technology can amplify ROI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Office Supplies' consistency makes it a reliable revenue pillar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977905" y="3910087"/>
            <a:ext cx="2649066" cy="787598"/>
          </a:xfrm>
          <a:prstGeom prst="roundRect">
            <a:avLst>
              <a:gd name="adj" fmla="val 6261"/>
            </a:avLst>
          </a:prstGeom>
          <a:solidFill>
            <a:srgbClr val="E6CCC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256" y="4077891"/>
            <a:ext cx="146745" cy="11735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59351" y="4036591"/>
            <a:ext cx="2150269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Technology products are the primary revenue drivers and the most promising category for strategic investment.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901" y="416198"/>
            <a:ext cx="3378026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Sales by Region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72901" y="1160413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Regional Breakdown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72901" y="1500262"/>
            <a:ext cx="2655094" cy="1356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West</a:t>
            </a:r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contributed the highest regional sales — the top-performing market</a:t>
            </a:r>
            <a:endParaRPr lang="en-US" sz="1050" dirty="0"/>
          </a:p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East</a:t>
            </a:r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demonstrated strong performance as a close second</a:t>
            </a:r>
            <a:endParaRPr lang="en-US" sz="1050" dirty="0"/>
          </a:p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Central</a:t>
            </a:r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and </a:t>
            </a:r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South</a:t>
            </a:r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regions generated comparatively lower revenue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72901" y="2985715"/>
            <a:ext cx="217125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Strategic Recommendations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2901" y="3325564"/>
            <a:ext cx="2655094" cy="1356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Replicate West region's winning strategies in underperforming markets</a:t>
            </a:r>
            <a:endParaRPr lang="en-US" sz="1050" dirty="0"/>
          </a:p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Invest in targeted marketing campaigns in Central and South</a:t>
            </a:r>
            <a:endParaRPr lang="en-US" sz="1050" dirty="0"/>
          </a:p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 regional slicers in Power BI for granular performance monitoring</a:t>
            </a:r>
            <a:endParaRPr lang="en-US" sz="10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5283" y="1443038"/>
            <a:ext cx="2367707" cy="28729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393" y="381744"/>
            <a:ext cx="6120854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Monthly Sales Trend &amp; Power BI Dashboard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26393" y="1024086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Trend Observations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26393" y="1319064"/>
            <a:ext cx="5285259" cy="616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Monthly sales show a </a:t>
            </a:r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9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consistent upward trajectory</a:t>
            </a:r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over the analysis period</a:t>
            </a:r>
            <a:endParaRPr lang="en-US" sz="950" dirty="0"/>
          </a:p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Notable seasonal spikes observed in later months — likely holiday-driven demand</a:t>
            </a:r>
            <a:endParaRPr lang="en-US" sz="950" dirty="0"/>
          </a:p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Customer engagement and purchase frequency improved steadily over time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9079" y="2053605"/>
            <a:ext cx="1579885" cy="25903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13624" y="1285652"/>
            <a:ext cx="206015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Power BI Dashboard Features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3624" y="1593726"/>
            <a:ext cx="2708672" cy="15915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13624" y="3303017"/>
            <a:ext cx="2708672" cy="1160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KPI cards, category chart, regional chart, and trend line</a:t>
            </a:r>
            <a:endParaRPr lang="en-US" sz="950" dirty="0"/>
          </a:p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Interactive slicers for Region, Category, and Year</a:t>
            </a:r>
            <a:endParaRPr lang="en-US" sz="950" dirty="0"/>
          </a:p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Enables real-time filtering for faster business decisions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8699"/>
            <a:ext cx="549972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Statistical Validation &amp; Data Story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084287"/>
            <a:ext cx="4107135" cy="3630513"/>
          </a:xfrm>
          <a:prstGeom prst="roundRect">
            <a:avLst>
              <a:gd name="adj" fmla="val 2812"/>
            </a:avLst>
          </a:prstGeom>
          <a:solidFill>
            <a:srgbClr val="E1C2C2"/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122604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Hypothesis Tested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1589261"/>
            <a:ext cx="382361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H0: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No significant difference in sales among product categories.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5781" y="2170435"/>
            <a:ext cx="382361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H1: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Technology category generates significantly higher sales.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5781" y="2751609"/>
            <a:ext cx="382361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Method: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Comparative analysis using category-wise sales aggregation in Python.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5781" y="3364706"/>
            <a:ext cx="3823618" cy="829196"/>
          </a:xfrm>
          <a:prstGeom prst="roundRect">
            <a:avLst>
              <a:gd name="adj" fmla="val 7181"/>
            </a:avLst>
          </a:prstGeom>
          <a:solidFill>
            <a:srgbClr val="B6FCB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540" y="3579763"/>
            <a:ext cx="177180" cy="14175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96479" y="3541886"/>
            <a:ext cx="322116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Result: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H1 supported — Technology recorded the highest total sales by a clear margin.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749701" y="1226046"/>
            <a:ext cx="19630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The Business Data Story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749701" y="1589261"/>
            <a:ext cx="3902943" cy="196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Total sales reached 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~$2.26M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, reflecting strong overall business health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Technology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products emerged as the undisputed top-performing category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West region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generated the highest geographic revenue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Monthly trends confirm 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steady, sustained growth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with seasonal acceleration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749701" y="3679999"/>
            <a:ext cx="39029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Together, these findings paint a clear picture: the business is on a strong growth trajectory, with well-defined opportunities for further expansion in underserved regions and product lines.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7719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6623" y="326975"/>
            <a:ext cx="4407024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Recommendations &amp; Future Scope</a:t>
            </a:r>
            <a:endParaRPr lang="en-US" sz="2150" dirty="0"/>
          </a:p>
        </p:txBody>
      </p:sp>
      <p:sp>
        <p:nvSpPr>
          <p:cNvPr id="4" name="Text 1"/>
          <p:cNvSpPr/>
          <p:nvPr/>
        </p:nvSpPr>
        <p:spPr>
          <a:xfrm>
            <a:off x="3816623" y="889322"/>
            <a:ext cx="1778868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Strategic Recommendations</a:t>
            </a:r>
            <a:endParaRPr lang="en-US" sz="10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58146" y="1163092"/>
            <a:ext cx="166092" cy="16609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76489" y="1159669"/>
            <a:ext cx="1812206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Double Down on Technology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4176489" y="1419151"/>
            <a:ext cx="1974949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Expand product range, allocate higher marketing spend, and prioritize inventory for the top revenue category</a:t>
            </a:r>
            <a:endParaRPr lang="en-US" sz="8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58146" y="2068860"/>
            <a:ext cx="166092" cy="16609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176489" y="2065437"/>
            <a:ext cx="1974949" cy="346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Revitalize Underperforming Regions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4176489" y="2497931"/>
            <a:ext cx="1974949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Deploy targeted campaigns in Central and South regions, replicating West's successful strategies</a:t>
            </a:r>
            <a:endParaRPr lang="en-US" sz="8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58146" y="3147640"/>
            <a:ext cx="166092" cy="16609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176489" y="3144217"/>
            <a:ext cx="1525191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Leverage the Dashboard</a:t>
            </a:r>
            <a:endParaRPr lang="en-US" sz="1050" dirty="0"/>
          </a:p>
        </p:txBody>
      </p:sp>
      <p:sp>
        <p:nvSpPr>
          <p:cNvPr id="13" name="Text 7"/>
          <p:cNvSpPr/>
          <p:nvPr/>
        </p:nvSpPr>
        <p:spPr>
          <a:xfrm>
            <a:off x="4176489" y="3403699"/>
            <a:ext cx="1974949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 Power BI's interactive slicers for ongoing monitoring and faster, data-driven planning decisions</a:t>
            </a:r>
            <a:endParaRPr lang="en-US" sz="850" dirty="0"/>
          </a:p>
        </p:txBody>
      </p:sp>
      <p:sp>
        <p:nvSpPr>
          <p:cNvPr id="14" name="Text 8"/>
          <p:cNvSpPr/>
          <p:nvPr/>
        </p:nvSpPr>
        <p:spPr>
          <a:xfrm>
            <a:off x="6426324" y="889322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Future Scope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6426324" y="1159669"/>
            <a:ext cx="2334816" cy="825029"/>
          </a:xfrm>
          <a:prstGeom prst="roundRect">
            <a:avLst>
              <a:gd name="adj" fmla="val 5638"/>
            </a:avLst>
          </a:prstGeom>
          <a:solidFill>
            <a:srgbClr val="FFFAF6"/>
          </a:solidFill>
          <a:ln w="14288">
            <a:solidFill>
              <a:srgbClr val="E1C2C2"/>
            </a:solidFill>
            <a:prstDash val="solid"/>
          </a:ln>
          <a:effectLst>
            <a:outerShdw sx="100000" sy="100000" kx="0" ky="0" algn="bl" rotWithShape="0" blurRad="0" dist="13970" dir="2700000">
              <a:srgbClr val="e1c2c2">
                <a:alpha val="10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551340" y="1284684"/>
            <a:ext cx="1529581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Customer Segmentation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6551340" y="1544166"/>
            <a:ext cx="2084784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RFM analysis to identify high-value customer groups</a:t>
            </a:r>
            <a:endParaRPr lang="en-US" sz="850" dirty="0"/>
          </a:p>
        </p:txBody>
      </p:sp>
      <p:sp>
        <p:nvSpPr>
          <p:cNvPr id="18" name="Shape 12"/>
          <p:cNvSpPr/>
          <p:nvPr/>
        </p:nvSpPr>
        <p:spPr>
          <a:xfrm>
            <a:off x="6426324" y="2071167"/>
            <a:ext cx="2334816" cy="825029"/>
          </a:xfrm>
          <a:prstGeom prst="roundRect">
            <a:avLst>
              <a:gd name="adj" fmla="val 5638"/>
            </a:avLst>
          </a:prstGeom>
          <a:solidFill>
            <a:srgbClr val="FFFAF6"/>
          </a:solidFill>
          <a:ln w="14288">
            <a:solidFill>
              <a:srgbClr val="CCC4EC"/>
            </a:solidFill>
            <a:prstDash val="solid"/>
          </a:ln>
          <a:effectLst>
            <a:outerShdw sx="100000" sy="100000" kx="0" ky="0" algn="bl" rotWithShape="0" blurRad="0" dist="13970" dir="2700000">
              <a:srgbClr val="ccc4ec">
                <a:alpha val="100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6551340" y="2196182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Profit Analysis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6551340" y="2455664"/>
            <a:ext cx="2084784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Extend beyond revenue to include margin and cost data</a:t>
            </a:r>
            <a:endParaRPr lang="en-US" sz="850" dirty="0"/>
          </a:p>
        </p:txBody>
      </p:sp>
      <p:sp>
        <p:nvSpPr>
          <p:cNvPr id="21" name="Shape 15"/>
          <p:cNvSpPr/>
          <p:nvPr/>
        </p:nvSpPr>
        <p:spPr>
          <a:xfrm>
            <a:off x="6426324" y="2982664"/>
            <a:ext cx="2334816" cy="825029"/>
          </a:xfrm>
          <a:prstGeom prst="roundRect">
            <a:avLst>
              <a:gd name="adj" fmla="val 5638"/>
            </a:avLst>
          </a:prstGeom>
          <a:solidFill>
            <a:srgbClr val="FFFAF6"/>
          </a:solidFill>
          <a:ln w="14288">
            <a:solidFill>
              <a:srgbClr val="B4DAE4"/>
            </a:solidFill>
            <a:prstDash val="solid"/>
          </a:ln>
          <a:effectLst>
            <a:outerShdw sx="100000" sy="100000" kx="0" ky="0" algn="bl" rotWithShape="0" blurRad="0" dist="13970" dir="2700000">
              <a:srgbClr val="b4dae4">
                <a:alpha val="100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6551340" y="3107680"/>
            <a:ext cx="1409254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Predictive Forecasting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6551340" y="3367162"/>
            <a:ext cx="2084784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Time-series models to project future sales performance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6426324" y="3894162"/>
            <a:ext cx="2334816" cy="825029"/>
          </a:xfrm>
          <a:prstGeom prst="roundRect">
            <a:avLst>
              <a:gd name="adj" fmla="val 5638"/>
            </a:avLst>
          </a:prstGeom>
          <a:solidFill>
            <a:srgbClr val="FFFAF6"/>
          </a:solidFill>
          <a:ln w="14288">
            <a:solidFill>
              <a:srgbClr val="E1C2C2"/>
            </a:solidFill>
            <a:prstDash val="solid"/>
          </a:ln>
          <a:effectLst>
            <a:outerShdw sx="100000" sy="100000" kx="0" ky="0" algn="bl" rotWithShape="0" blurRad="0" dist="13970" dir="2700000">
              <a:srgbClr val="e1c2c2">
                <a:alpha val="100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6551340" y="4019178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ML Models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6551340" y="4278660"/>
            <a:ext cx="2084784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Advanced classification for churn and demand prediction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409798"/>
            <a:ext cx="5040585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Learning Outcomes &amp; Thank You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65162" y="1074241"/>
            <a:ext cx="821367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This project delivered hands-on experience in every stage of a real-world business analytics workflow — from raw data to executive-ready insights.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5162" y="1626319"/>
            <a:ext cx="265807" cy="2658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5162" y="2047875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65162" y="2330276"/>
            <a:ext cx="263403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Preprocessing &amp; feature engineering with Python &amp; Pandas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4946" y="1626319"/>
            <a:ext cx="265807" cy="26580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54946" y="2047875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EDA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3254946" y="2330276"/>
            <a:ext cx="263403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Exploratory analysis to uncover patterns and outliers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4729" y="1626319"/>
            <a:ext cx="265807" cy="26580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44729" y="2047875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Dashboard Dev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6044729" y="2330276"/>
            <a:ext cx="263403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Interactive Power BI dashboard with slicers and KPI cards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5162" y="2991371"/>
            <a:ext cx="265807" cy="26580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5162" y="3412927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Data Storytelling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465162" y="3695328"/>
            <a:ext cx="263403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Translating data findings into clear business narratives</a:t>
            </a:r>
            <a:endParaRPr lang="en-US" sz="10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54946" y="2991371"/>
            <a:ext cx="265807" cy="26580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254946" y="3412927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Hypothesis Testing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3254946" y="3695328"/>
            <a:ext cx="263403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Statistical validation of category performance claims</a:t>
            </a:r>
            <a:endParaRPr lang="en-US" sz="1000" dirty="0"/>
          </a:p>
        </p:txBody>
      </p:sp>
      <p:sp>
        <p:nvSpPr>
          <p:cNvPr id="19" name="Text 12"/>
          <p:cNvSpPr/>
          <p:nvPr/>
        </p:nvSpPr>
        <p:spPr>
          <a:xfrm>
            <a:off x="664518" y="4387528"/>
            <a:ext cx="801432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Thank you for reviewing this project. — </a:t>
            </a:r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Arunraj V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| Data Analyst Internship, Task 4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465162" y="4247406"/>
            <a:ext cx="14288" cy="486221"/>
          </a:xfrm>
          <a:prstGeom prst="rect">
            <a:avLst/>
          </a:prstGeom>
          <a:solidFill>
            <a:srgbClr val="E1C2C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2026-05-15T04:39:56Z</dcterms:created>
  <dcterms:modified xsi:type="dcterms:W3CDTF">2026-05-15T04:39:56Z</dcterms:modified>
</cp:coreProperties>
</file>